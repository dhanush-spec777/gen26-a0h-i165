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134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2A3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D3E6D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95"/>
              </a:lnSpc>
            </a:pPr>
            <a:r>
              <a:rPr lang="en-IN"/>
              <a:t>Genesis</a:t>
            </a:r>
            <a:r>
              <a:rPr lang="en-IN" spc="-35"/>
              <a:t> </a:t>
            </a:r>
            <a:r>
              <a:rPr lang="en-IN"/>
              <a:t>Ideathon</a:t>
            </a:r>
            <a:r>
              <a:rPr lang="en-IN" spc="-35"/>
              <a:t> </a:t>
            </a:r>
            <a:r>
              <a:rPr lang="en-IN"/>
              <a:t>–</a:t>
            </a:r>
            <a:r>
              <a:rPr lang="en-IN" spc="-30"/>
              <a:t> </a:t>
            </a:r>
            <a:r>
              <a:rPr lang="en-IN" spc="-10"/>
              <a:t>Pre-</a:t>
            </a:r>
            <a:r>
              <a:rPr lang="en-IN"/>
              <a:t>Ideathon</a:t>
            </a:r>
            <a:r>
              <a:rPr lang="en-IN" spc="-35"/>
              <a:t> </a:t>
            </a:r>
            <a:r>
              <a:rPr lang="en-IN" spc="-10"/>
              <a:t>Template</a:t>
            </a:r>
            <a:endParaRPr lang="en-IN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042A34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145"/>
              </a:lnSpc>
            </a:pPr>
            <a:fld id="{81D60167-4931-47E6-BA6A-407CBD079E47}" type="slidenum">
              <a:rPr lang="en-IN" spc="-50" smtClean="0"/>
              <a:pPr marL="63500">
                <a:lnSpc>
                  <a:spcPts val="1145"/>
                </a:lnSpc>
              </a:pPr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86898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121920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2F7F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10911536" y="319707"/>
            <a:ext cx="823182" cy="822325"/>
          </a:xfrm>
          <a:custGeom>
            <a:avLst/>
            <a:gdLst/>
            <a:ahLst/>
            <a:cxnLst/>
            <a:rect l="l" t="t" r="r" b="b"/>
            <a:pathLst>
              <a:path w="822325" h="822325">
                <a:moveTo>
                  <a:pt x="712491" y="822102"/>
                </a:moveTo>
                <a:lnTo>
                  <a:pt x="109610" y="822102"/>
                </a:lnTo>
                <a:lnTo>
                  <a:pt x="66945" y="813488"/>
                </a:lnTo>
                <a:lnTo>
                  <a:pt x="32104" y="789998"/>
                </a:lnTo>
                <a:lnTo>
                  <a:pt x="8613" y="755157"/>
                </a:lnTo>
                <a:lnTo>
                  <a:pt x="0" y="712491"/>
                </a:lnTo>
                <a:lnTo>
                  <a:pt x="0" y="109610"/>
                </a:lnTo>
                <a:lnTo>
                  <a:pt x="8613" y="66945"/>
                </a:lnTo>
                <a:lnTo>
                  <a:pt x="32104" y="32104"/>
                </a:lnTo>
                <a:lnTo>
                  <a:pt x="66945" y="8613"/>
                </a:lnTo>
                <a:lnTo>
                  <a:pt x="109610" y="0"/>
                </a:lnTo>
                <a:lnTo>
                  <a:pt x="712491" y="0"/>
                </a:lnTo>
                <a:lnTo>
                  <a:pt x="754437" y="8343"/>
                </a:lnTo>
                <a:lnTo>
                  <a:pt x="789997" y="32104"/>
                </a:lnTo>
                <a:lnTo>
                  <a:pt x="813758" y="67664"/>
                </a:lnTo>
                <a:lnTo>
                  <a:pt x="822102" y="109610"/>
                </a:lnTo>
                <a:lnTo>
                  <a:pt x="822102" y="712491"/>
                </a:lnTo>
                <a:lnTo>
                  <a:pt x="813488" y="755157"/>
                </a:lnTo>
                <a:lnTo>
                  <a:pt x="789998" y="789998"/>
                </a:lnTo>
                <a:lnTo>
                  <a:pt x="755157" y="813488"/>
                </a:lnTo>
                <a:lnTo>
                  <a:pt x="712491" y="822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10911536" y="319707"/>
            <a:ext cx="823182" cy="822325"/>
          </a:xfrm>
          <a:custGeom>
            <a:avLst/>
            <a:gdLst/>
            <a:ahLst/>
            <a:cxnLst/>
            <a:rect l="l" t="t" r="r" b="b"/>
            <a:pathLst>
              <a:path w="822325" h="822325">
                <a:moveTo>
                  <a:pt x="0" y="109610"/>
                </a:moveTo>
                <a:lnTo>
                  <a:pt x="8613" y="66945"/>
                </a:lnTo>
                <a:lnTo>
                  <a:pt x="32104" y="32104"/>
                </a:lnTo>
                <a:lnTo>
                  <a:pt x="66945" y="8613"/>
                </a:lnTo>
                <a:lnTo>
                  <a:pt x="109610" y="0"/>
                </a:lnTo>
                <a:lnTo>
                  <a:pt x="712491" y="0"/>
                </a:lnTo>
                <a:lnTo>
                  <a:pt x="754437" y="8343"/>
                </a:lnTo>
                <a:lnTo>
                  <a:pt x="789997" y="32104"/>
                </a:lnTo>
                <a:lnTo>
                  <a:pt x="813758" y="67664"/>
                </a:lnTo>
                <a:lnTo>
                  <a:pt x="822102" y="109610"/>
                </a:lnTo>
                <a:lnTo>
                  <a:pt x="822102" y="712491"/>
                </a:lnTo>
                <a:lnTo>
                  <a:pt x="813488" y="755157"/>
                </a:lnTo>
                <a:lnTo>
                  <a:pt x="789998" y="789998"/>
                </a:lnTo>
                <a:lnTo>
                  <a:pt x="755157" y="813488"/>
                </a:lnTo>
                <a:lnTo>
                  <a:pt x="712491" y="822102"/>
                </a:lnTo>
                <a:lnTo>
                  <a:pt x="109610" y="822102"/>
                </a:lnTo>
                <a:lnTo>
                  <a:pt x="66945" y="813488"/>
                </a:lnTo>
                <a:lnTo>
                  <a:pt x="32104" y="789998"/>
                </a:lnTo>
                <a:lnTo>
                  <a:pt x="8613" y="755157"/>
                </a:lnTo>
                <a:lnTo>
                  <a:pt x="0" y="712491"/>
                </a:lnTo>
                <a:lnTo>
                  <a:pt x="0" y="109610"/>
                </a:lnTo>
                <a:close/>
              </a:path>
            </a:pathLst>
          </a:custGeom>
          <a:ln w="9515">
            <a:solidFill>
              <a:srgbClr val="D3E6DD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5950" y="383648"/>
            <a:ext cx="534130" cy="69421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348460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79300" h="502920">
                <a:moveTo>
                  <a:pt x="12178995" y="502396"/>
                </a:moveTo>
                <a:lnTo>
                  <a:pt x="0" y="502396"/>
                </a:lnTo>
                <a:lnTo>
                  <a:pt x="0" y="0"/>
                </a:lnTo>
                <a:lnTo>
                  <a:pt x="12178995" y="0"/>
                </a:lnTo>
                <a:lnTo>
                  <a:pt x="12178995" y="502396"/>
                </a:lnTo>
                <a:close/>
              </a:path>
            </a:pathLst>
          </a:custGeom>
          <a:solidFill>
            <a:srgbClr val="042A3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g object 21"/>
          <p:cNvSpPr/>
          <p:nvPr/>
        </p:nvSpPr>
        <p:spPr>
          <a:xfrm>
            <a:off x="11259006" y="6403268"/>
            <a:ext cx="457677" cy="395605"/>
          </a:xfrm>
          <a:custGeom>
            <a:avLst/>
            <a:gdLst/>
            <a:ahLst/>
            <a:cxnLst/>
            <a:rect l="l" t="t" r="r" b="b"/>
            <a:pathLst>
              <a:path w="457200" h="395604">
                <a:moveTo>
                  <a:pt x="357843" y="395522"/>
                </a:moveTo>
                <a:lnTo>
                  <a:pt x="98880" y="395522"/>
                </a:lnTo>
                <a:lnTo>
                  <a:pt x="0" y="197761"/>
                </a:lnTo>
                <a:lnTo>
                  <a:pt x="98880" y="0"/>
                </a:lnTo>
                <a:lnTo>
                  <a:pt x="357843" y="0"/>
                </a:lnTo>
                <a:lnTo>
                  <a:pt x="456723" y="197761"/>
                </a:lnTo>
                <a:lnTo>
                  <a:pt x="357843" y="395522"/>
                </a:lnTo>
                <a:close/>
              </a:path>
            </a:pathLst>
          </a:custGeom>
          <a:solidFill>
            <a:srgbClr val="79C14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g object 22"/>
          <p:cNvSpPr/>
          <p:nvPr/>
        </p:nvSpPr>
        <p:spPr>
          <a:xfrm>
            <a:off x="10705795" y="4586034"/>
            <a:ext cx="1234456" cy="1424305"/>
          </a:xfrm>
          <a:custGeom>
            <a:avLst/>
            <a:gdLst/>
            <a:ahLst/>
            <a:cxnLst/>
            <a:rect l="l" t="t" r="r" b="b"/>
            <a:pathLst>
              <a:path w="1233170" h="1424304">
                <a:moveTo>
                  <a:pt x="616576" y="0"/>
                </a:moveTo>
                <a:lnTo>
                  <a:pt x="1233153" y="308288"/>
                </a:lnTo>
                <a:lnTo>
                  <a:pt x="1233153" y="1115634"/>
                </a:lnTo>
                <a:lnTo>
                  <a:pt x="616576" y="1423922"/>
                </a:lnTo>
                <a:lnTo>
                  <a:pt x="0" y="1115634"/>
                </a:lnTo>
                <a:lnTo>
                  <a:pt x="0" y="308288"/>
                </a:lnTo>
                <a:lnTo>
                  <a:pt x="616576" y="0"/>
                </a:lnTo>
                <a:close/>
              </a:path>
            </a:pathLst>
          </a:custGeom>
          <a:ln w="15858">
            <a:solidFill>
              <a:srgbClr val="4EA27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3" name="bg object 23"/>
          <p:cNvSpPr/>
          <p:nvPr/>
        </p:nvSpPr>
        <p:spPr>
          <a:xfrm>
            <a:off x="11643054" y="3772890"/>
            <a:ext cx="549212" cy="949325"/>
          </a:xfrm>
          <a:custGeom>
            <a:avLst/>
            <a:gdLst/>
            <a:ahLst/>
            <a:cxnLst/>
            <a:rect l="l" t="t" r="r" b="b"/>
            <a:pathLst>
              <a:path w="548640" h="949325">
                <a:moveTo>
                  <a:pt x="548372" y="880621"/>
                </a:moveTo>
                <a:lnTo>
                  <a:pt x="411051" y="949282"/>
                </a:lnTo>
                <a:lnTo>
                  <a:pt x="0" y="743756"/>
                </a:lnTo>
                <a:lnTo>
                  <a:pt x="0" y="205525"/>
                </a:lnTo>
                <a:lnTo>
                  <a:pt x="411051" y="0"/>
                </a:lnTo>
                <a:lnTo>
                  <a:pt x="548372" y="68661"/>
                </a:lnTo>
              </a:path>
            </a:pathLst>
          </a:custGeom>
          <a:ln w="15858">
            <a:solidFill>
              <a:srgbClr val="4EA27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bg object 24"/>
          <p:cNvSpPr/>
          <p:nvPr/>
        </p:nvSpPr>
        <p:spPr>
          <a:xfrm>
            <a:off x="9814256" y="5280079"/>
            <a:ext cx="823182" cy="949325"/>
          </a:xfrm>
          <a:custGeom>
            <a:avLst/>
            <a:gdLst/>
            <a:ahLst/>
            <a:cxnLst/>
            <a:rect l="l" t="t" r="r" b="b"/>
            <a:pathLst>
              <a:path w="822325" h="949325">
                <a:moveTo>
                  <a:pt x="411051" y="0"/>
                </a:moveTo>
                <a:lnTo>
                  <a:pt x="822101" y="205525"/>
                </a:lnTo>
                <a:lnTo>
                  <a:pt x="822101" y="743756"/>
                </a:lnTo>
                <a:lnTo>
                  <a:pt x="411051" y="949281"/>
                </a:lnTo>
                <a:lnTo>
                  <a:pt x="0" y="743756"/>
                </a:lnTo>
                <a:lnTo>
                  <a:pt x="0" y="205525"/>
                </a:lnTo>
                <a:lnTo>
                  <a:pt x="411051" y="0"/>
                </a:lnTo>
                <a:close/>
              </a:path>
            </a:pathLst>
          </a:custGeom>
          <a:ln w="15858">
            <a:solidFill>
              <a:srgbClr val="4EA27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2057" y="527757"/>
            <a:ext cx="625936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2A3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5737" y="2187516"/>
            <a:ext cx="111806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21236" y="6529869"/>
            <a:ext cx="2329066" cy="141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D3E6D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95"/>
              </a:lnSpc>
            </a:pPr>
            <a:r>
              <a:rPr lang="en-IN"/>
              <a:t>Genesis</a:t>
            </a:r>
            <a:r>
              <a:rPr lang="en-IN" spc="-35"/>
              <a:t> </a:t>
            </a:r>
            <a:r>
              <a:rPr lang="en-IN"/>
              <a:t>Ideathon</a:t>
            </a:r>
            <a:r>
              <a:rPr lang="en-IN" spc="-35"/>
              <a:t> </a:t>
            </a:r>
            <a:r>
              <a:rPr lang="en-IN"/>
              <a:t>–</a:t>
            </a:r>
            <a:r>
              <a:rPr lang="en-IN" spc="-30"/>
              <a:t> </a:t>
            </a:r>
            <a:r>
              <a:rPr lang="en-IN" spc="-10"/>
              <a:t>Pre-</a:t>
            </a:r>
            <a:r>
              <a:rPr lang="en-IN"/>
              <a:t>Ideathon</a:t>
            </a:r>
            <a:r>
              <a:rPr lang="en-IN" spc="-35"/>
              <a:t> </a:t>
            </a:r>
            <a:r>
              <a:rPr lang="en-IN" spc="-10"/>
              <a:t>Template</a:t>
            </a:r>
            <a:endParaRPr lang="en-IN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95465" y="6531237"/>
            <a:ext cx="261893" cy="143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042A34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145"/>
              </a:lnSpc>
            </a:pPr>
            <a:fld id="{81D60167-4931-47E6-BA6A-407CBD079E47}" type="slidenum">
              <a:rPr lang="en-IN" spc="-50" smtClean="0"/>
              <a:pPr marL="63500">
                <a:lnSpc>
                  <a:spcPts val="1145"/>
                </a:lnSpc>
              </a:pPr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50053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1" y="3593592"/>
            <a:ext cx="9239172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–Yeezy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–Dhanush.M</a:t>
            </a:r>
            <a:r>
              <a:rPr lang="en-US" dirty="0">
                <a:solidFill>
                  <a:schemeClr val="bg1"/>
                </a:solidFill>
              </a:rPr>
              <a:t>-CB.EN.U4ARE25011,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Mohamed Navith.M-CB.EN.U4ARE25029,Naren.S.S-CB.EN.U4ARE25030,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dirty="0">
                <a:solidFill>
                  <a:schemeClr val="bg1"/>
                </a:solidFill>
              </a:rPr>
              <a:t>Surya.S-CB.EN.U4ELC25142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–DOMAIN 7-Digital Technologies, AI &amp; Cybersecurity.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</a:t>
            </a:r>
            <a:r>
              <a:rPr lang="en-US" dirty="0">
                <a:solidFill>
                  <a:schemeClr val="bg1"/>
                </a:solidFill>
              </a:rPr>
              <a:t>Students often struggle to understand complex academic concepts due to fragmented learning resources, passive learning methods, and a lack of personalized content that addresses their individual knowledge gaps and learning needs.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dirty="0"/>
              <a:t>Yeezy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43000" y="140909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83920" y="2716272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exactly needs to be solved?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     Create a learning system that converts study material into an interactive knowledge map, teaches concepts through an AI tutor, detects knowledge gaps, and adapts the learning path until the student demonstrates understanding.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Why is it important right now?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     Create a learning system that converts study material into an interactive knowledge map, teaches concepts through an AI tutor, detects knowledge gaps, and adapts the learning path until the student demonstrates understanding.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056811-F46C-D8BA-CA8A-B6FFEDE5C830}"/>
              </a:ext>
            </a:extLst>
          </p:cNvPr>
          <p:cNvSpPr txBox="1"/>
          <p:nvPr/>
        </p:nvSpPr>
        <p:spPr>
          <a:xfrm>
            <a:off x="1143000" y="1912010"/>
            <a:ext cx="1042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Students often learn from PDFs, videos, notes and separate apps. These resources provide information, but they usually do not adapt to what a student actually understands or where they are struggling.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8317" y="314949"/>
            <a:ext cx="2613025" cy="831850"/>
            <a:chOff x="451966" y="314949"/>
            <a:chExt cx="2613025" cy="831850"/>
          </a:xfrm>
        </p:grpSpPr>
        <p:sp>
          <p:nvSpPr>
            <p:cNvPr id="4" name="object 4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2493714" y="822102"/>
                  </a:move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0" y="109610"/>
                  </a:move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493261" y="548068"/>
                  </a:moveTo>
                  <a:lnTo>
                    <a:pt x="137017" y="548068"/>
                  </a:lnTo>
                  <a:lnTo>
                    <a:pt x="0" y="274034"/>
                  </a:ln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close/>
                </a:path>
              </a:pathLst>
            </a:custGeom>
            <a:solidFill>
              <a:srgbClr val="F2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0" y="274034"/>
                  </a:move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lnTo>
                    <a:pt x="137017" y="548068"/>
                  </a:lnTo>
                  <a:lnTo>
                    <a:pt x="0" y="274034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325" y="548068"/>
              <a:ext cx="365378" cy="3653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3822" y="406280"/>
            <a:ext cx="1445895" cy="5778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1400" b="1" spc="-2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endParaRPr sz="1400" dirty="0">
              <a:latin typeface="Calibri"/>
              <a:cs typeface="Calibri"/>
            </a:endParaRPr>
          </a:p>
          <a:p>
            <a:pPr marL="12700">
              <a:spcBef>
                <a:spcPts val="495"/>
              </a:spcBef>
            </a:pPr>
            <a:r>
              <a:rPr lang="en-US" sz="1400" b="1" dirty="0">
                <a:solidFill>
                  <a:srgbClr val="0D292E"/>
                </a:solidFill>
                <a:latin typeface="Calibri"/>
                <a:cs typeface="Calibri"/>
              </a:rPr>
              <a:t>Yeezy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12726" y="546505"/>
            <a:ext cx="625936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3395">
              <a:spcBef>
                <a:spcPts val="95"/>
              </a:spcBef>
            </a:pPr>
            <a:r>
              <a:rPr dirty="0"/>
              <a:t>WHO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AFFECTED?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54418" y="1461517"/>
            <a:ext cx="457200" cy="395605"/>
            <a:chOff x="548068" y="1461516"/>
            <a:chExt cx="457200" cy="395605"/>
          </a:xfrm>
        </p:grpSpPr>
        <p:sp>
          <p:nvSpPr>
            <p:cNvPr id="11" name="object 11"/>
            <p:cNvSpPr/>
            <p:nvPr/>
          </p:nvSpPr>
          <p:spPr>
            <a:xfrm>
              <a:off x="548068" y="1461516"/>
              <a:ext cx="457200" cy="395605"/>
            </a:xfrm>
            <a:custGeom>
              <a:avLst/>
              <a:gdLst/>
              <a:ahLst/>
              <a:cxnLst/>
              <a:rect l="l" t="t" r="r" b="b"/>
              <a:pathLst>
                <a:path w="457200" h="395605">
                  <a:moveTo>
                    <a:pt x="357843" y="395522"/>
                  </a:moveTo>
                  <a:lnTo>
                    <a:pt x="98880" y="395522"/>
                  </a:lnTo>
                  <a:lnTo>
                    <a:pt x="0" y="197761"/>
                  </a:lnTo>
                  <a:lnTo>
                    <a:pt x="98880" y="0"/>
                  </a:lnTo>
                  <a:lnTo>
                    <a:pt x="357843" y="0"/>
                  </a:lnTo>
                  <a:lnTo>
                    <a:pt x="456723" y="197761"/>
                  </a:lnTo>
                  <a:lnTo>
                    <a:pt x="357843" y="395522"/>
                  </a:lnTo>
                  <a:close/>
                </a:path>
              </a:pathLst>
            </a:custGeom>
            <a:solidFill>
              <a:srgbClr val="79C1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413" y="1521803"/>
              <a:ext cx="274034" cy="2740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07506" y="1343516"/>
            <a:ext cx="9578340" cy="34541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7665" marR="494030">
              <a:spcBef>
                <a:spcPts val="95"/>
              </a:spcBef>
            </a:pP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problem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affects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learners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who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have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access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digital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material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but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need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D292E"/>
                </a:solidFill>
                <a:latin typeface="Calibri"/>
                <a:cs typeface="Calibri"/>
              </a:rPr>
              <a:t>help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understanding,</a:t>
            </a:r>
            <a:r>
              <a:rPr sz="2000" spc="-7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connecting,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practicing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revising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concepts.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1325"/>
              </a:spcBef>
              <a:buClr>
                <a:srgbClr val="016754"/>
              </a:buClr>
              <a:tabLst>
                <a:tab pos="342265" algn="l"/>
              </a:tabLst>
            </a:pPr>
            <a:r>
              <a:rPr lang="en-US" sz="1600" dirty="0">
                <a:solidFill>
                  <a:srgbClr val="0D292E"/>
                </a:solidFill>
                <a:latin typeface="Calibri"/>
                <a:cs typeface="Calibri"/>
              </a:rPr>
              <a:t>1.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Primary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users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/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target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D292E"/>
                </a:solidFill>
                <a:latin typeface="Calibri"/>
                <a:cs typeface="Calibri"/>
              </a:rPr>
              <a:t>group</a:t>
            </a:r>
            <a:r>
              <a:rPr lang="en-US" sz="1600" spc="-2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351790" indent="-285750"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School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college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students,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competitive-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exam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aspirants,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researchers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lifelong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learners.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919"/>
              </a:spcBef>
            </a:pPr>
            <a:endParaRPr sz="1600" dirty="0">
              <a:latin typeface="Calibri"/>
              <a:cs typeface="Calibri"/>
            </a:endParaRPr>
          </a:p>
          <a:p>
            <a:pPr marL="66040"/>
            <a:r>
              <a:rPr lang="en-US" sz="1600" dirty="0">
                <a:solidFill>
                  <a:srgbClr val="0D292E"/>
                </a:solidFill>
                <a:latin typeface="Calibri"/>
                <a:cs typeface="Calibri"/>
              </a:rPr>
              <a:t>2.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Secondary</a:t>
            </a:r>
            <a:r>
              <a:rPr sz="1600" spc="-8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stakeholders</a:t>
            </a:r>
            <a:r>
              <a:rPr lang="en-US" sz="16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351790" indent="-285750">
              <a:spcBef>
                <a:spcPts val="475"/>
              </a:spcBef>
              <a:buFont typeface="Arial" panose="020B0604020202020204" pitchFamily="34" charset="0"/>
              <a:buChar char="•"/>
            </a:pPr>
            <a:r>
              <a:rPr sz="1600" spc="-25" dirty="0">
                <a:solidFill>
                  <a:srgbClr val="0D292E"/>
                </a:solidFill>
                <a:latin typeface="Calibri"/>
                <a:cs typeface="Calibri"/>
              </a:rPr>
              <a:t>Teachers,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tutors,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parents,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educational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institutions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content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creators.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925"/>
              </a:spcBef>
            </a:pPr>
            <a:endParaRPr sz="1600" dirty="0">
              <a:latin typeface="Calibri"/>
              <a:cs typeface="Calibri"/>
            </a:endParaRPr>
          </a:p>
          <a:p>
            <a:pPr marL="66040"/>
            <a:r>
              <a:rPr lang="en-US" sz="1600" dirty="0">
                <a:solidFill>
                  <a:srgbClr val="0D292E"/>
                </a:solidFill>
                <a:latin typeface="Calibri"/>
                <a:cs typeface="Calibri"/>
              </a:rPr>
              <a:t>3.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Who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benefits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if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problem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solved?</a:t>
            </a:r>
            <a:endParaRPr sz="1600" dirty="0">
              <a:latin typeface="Calibri"/>
              <a:cs typeface="Calibri"/>
            </a:endParaRPr>
          </a:p>
          <a:p>
            <a:pPr marL="351790" marR="5080" indent="-285750">
              <a:lnSpc>
                <a:spcPts val="187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Students</a:t>
            </a:r>
            <a:r>
              <a:rPr sz="16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receive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clearer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explanations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focused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revision.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92E"/>
                </a:solidFill>
                <a:latin typeface="Calibri"/>
                <a:cs typeface="Calibri"/>
              </a:rPr>
              <a:t>Teachers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institutions</a:t>
            </a:r>
            <a:r>
              <a:rPr sz="16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can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better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support</a:t>
            </a:r>
            <a:r>
              <a:rPr sz="16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learners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92E"/>
                </a:solidFill>
                <a:latin typeface="Calibri"/>
                <a:cs typeface="Calibri"/>
              </a:rPr>
              <a:t>by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identifying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topics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that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need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more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attention.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dirty="0"/>
              <a:t>Genesis</a:t>
            </a:r>
            <a:r>
              <a:rPr spc="-35" dirty="0"/>
              <a:t> </a:t>
            </a:r>
            <a:r>
              <a:rPr dirty="0"/>
              <a:t>Ideathon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145"/>
              </a:lnSpc>
            </a:pPr>
            <a:fld id="{81D60167-4931-47E6-BA6A-407CBD079E47}" type="slidenum">
              <a:rPr spc="-50" dirty="0"/>
              <a:pPr marL="63500">
                <a:lnSpc>
                  <a:spcPts val="1145"/>
                </a:lnSpc>
              </a:pPr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8317" y="314949"/>
            <a:ext cx="2613025" cy="831850"/>
            <a:chOff x="451966" y="314949"/>
            <a:chExt cx="2613025" cy="831850"/>
          </a:xfrm>
        </p:grpSpPr>
        <p:sp>
          <p:nvSpPr>
            <p:cNvPr id="4" name="object 4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2493714" y="822102"/>
                  </a:move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0" y="109610"/>
                  </a:move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493261" y="548068"/>
                  </a:moveTo>
                  <a:lnTo>
                    <a:pt x="137017" y="548068"/>
                  </a:lnTo>
                  <a:lnTo>
                    <a:pt x="0" y="274034"/>
                  </a:ln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close/>
                </a:path>
              </a:pathLst>
            </a:custGeom>
            <a:solidFill>
              <a:srgbClr val="F2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0" y="274034"/>
                  </a:move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lnTo>
                    <a:pt x="137017" y="548068"/>
                  </a:lnTo>
                  <a:lnTo>
                    <a:pt x="0" y="274034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325" y="548068"/>
              <a:ext cx="365378" cy="3653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3822" y="406280"/>
            <a:ext cx="1445895" cy="5778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1400" b="1" spc="-2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endParaRPr sz="1400" dirty="0">
              <a:latin typeface="Calibri"/>
              <a:cs typeface="Calibri"/>
            </a:endParaRPr>
          </a:p>
          <a:p>
            <a:pPr marL="12700">
              <a:spcBef>
                <a:spcPts val="495"/>
              </a:spcBef>
            </a:pPr>
            <a:r>
              <a:rPr lang="en-US" sz="1400" b="1" dirty="0">
                <a:solidFill>
                  <a:srgbClr val="0D292E"/>
                </a:solidFill>
                <a:latin typeface="Calibri"/>
                <a:cs typeface="Calibri"/>
              </a:rPr>
              <a:t>Yeezy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39200" y="548068"/>
            <a:ext cx="625936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2480">
              <a:spcBef>
                <a:spcPts val="95"/>
              </a:spcBef>
            </a:pPr>
            <a:r>
              <a:rPr dirty="0"/>
              <a:t>CURRENT</a:t>
            </a:r>
            <a:r>
              <a:rPr spc="-75" dirty="0"/>
              <a:t> </a:t>
            </a:r>
            <a:r>
              <a:rPr spc="-40" dirty="0"/>
              <a:t>SITUATION</a:t>
            </a:r>
            <a:r>
              <a:rPr spc="-7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10" dirty="0"/>
              <a:t>CONTEXT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54418" y="1461517"/>
            <a:ext cx="457200" cy="395605"/>
            <a:chOff x="548068" y="1461516"/>
            <a:chExt cx="457200" cy="395605"/>
          </a:xfrm>
        </p:grpSpPr>
        <p:sp>
          <p:nvSpPr>
            <p:cNvPr id="11" name="object 11"/>
            <p:cNvSpPr/>
            <p:nvPr/>
          </p:nvSpPr>
          <p:spPr>
            <a:xfrm>
              <a:off x="548068" y="1461516"/>
              <a:ext cx="457200" cy="395605"/>
            </a:xfrm>
            <a:custGeom>
              <a:avLst/>
              <a:gdLst/>
              <a:ahLst/>
              <a:cxnLst/>
              <a:rect l="l" t="t" r="r" b="b"/>
              <a:pathLst>
                <a:path w="457200" h="395605">
                  <a:moveTo>
                    <a:pt x="357843" y="395522"/>
                  </a:moveTo>
                  <a:lnTo>
                    <a:pt x="98880" y="395522"/>
                  </a:lnTo>
                  <a:lnTo>
                    <a:pt x="0" y="197761"/>
                  </a:lnTo>
                  <a:lnTo>
                    <a:pt x="98880" y="0"/>
                  </a:lnTo>
                  <a:lnTo>
                    <a:pt x="357843" y="0"/>
                  </a:lnTo>
                  <a:lnTo>
                    <a:pt x="456723" y="197761"/>
                  </a:lnTo>
                  <a:lnTo>
                    <a:pt x="357843" y="395522"/>
                  </a:lnTo>
                  <a:close/>
                </a:path>
              </a:pathLst>
            </a:custGeom>
            <a:solidFill>
              <a:srgbClr val="79C1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413" y="1521803"/>
              <a:ext cx="274034" cy="2740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5519" y="1343515"/>
            <a:ext cx="9910445" cy="49237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9410" marR="5080">
              <a:spcBef>
                <a:spcPts val="95"/>
              </a:spcBef>
            </a:pP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Today,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students</a:t>
            </a:r>
            <a:r>
              <a:rPr sz="2000" spc="-10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commonly</a:t>
            </a:r>
            <a:r>
              <a:rPr sz="2000" spc="-8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combine</a:t>
            </a:r>
            <a:r>
              <a:rPr sz="2000" spc="-8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textbooks,</a:t>
            </a:r>
            <a:r>
              <a:rPr sz="2000" spc="-7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PDFs,</a:t>
            </a:r>
            <a:r>
              <a:rPr sz="2000" spc="-7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lecture</a:t>
            </a:r>
            <a:r>
              <a:rPr sz="2000" spc="-8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videos,</a:t>
            </a:r>
            <a:r>
              <a:rPr sz="2000" spc="-7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search</a:t>
            </a:r>
            <a:r>
              <a:rPr sz="2000" spc="-7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engines,</a:t>
            </a:r>
            <a:r>
              <a:rPr sz="2000" spc="50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chatbots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quiz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apps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D292E"/>
                </a:solidFill>
                <a:latin typeface="Calibri"/>
                <a:cs typeface="Calibri"/>
              </a:rPr>
              <a:t>study.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tools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are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useful,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but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learning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process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fragmented.</a:t>
            </a:r>
            <a:endParaRPr sz="2000" dirty="0">
              <a:latin typeface="Calibri"/>
              <a:cs typeface="Calibri"/>
            </a:endParaRPr>
          </a:p>
          <a:p>
            <a:pPr marL="298450" indent="-285750">
              <a:spcBef>
                <a:spcPts val="1375"/>
              </a:spcBef>
              <a:buClr>
                <a:srgbClr val="016754"/>
              </a:buClr>
              <a:buFont typeface="Arial" panose="020B0604020202020204" pitchFamily="34" charset="0"/>
              <a:buChar char="•"/>
              <a:tabLst>
                <a:tab pos="334010" algn="l"/>
              </a:tabLst>
            </a:pP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Existing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scenario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background</a:t>
            </a:r>
            <a:r>
              <a:rPr lang="en-US" sz="16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lang="en-US" sz="1600" spc="-10" dirty="0">
              <a:latin typeface="Calibri"/>
              <a:cs typeface="Calibri"/>
            </a:endParaRPr>
          </a:p>
          <a:p>
            <a:pPr marL="12700">
              <a:spcBef>
                <a:spcPts val="1375"/>
              </a:spcBef>
              <a:buClr>
                <a:srgbClr val="016754"/>
              </a:buClr>
              <a:tabLst>
                <a:tab pos="334010" algn="l"/>
              </a:tabLst>
            </a:pPr>
            <a:r>
              <a:rPr lang="en-US" sz="1600" dirty="0">
                <a:solidFill>
                  <a:srgbClr val="0D292E"/>
                </a:solidFill>
                <a:latin typeface="Calibri"/>
                <a:cs typeface="Calibri"/>
              </a:rPr>
              <a:t>             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content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is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often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static,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while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explanations,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practice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questions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progress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tracking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are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spread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across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different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tools.</a:t>
            </a:r>
            <a:endParaRPr lang="en-US" sz="1600" spc="-10" dirty="0">
              <a:solidFill>
                <a:srgbClr val="0D292E"/>
              </a:solidFill>
              <a:latin typeface="Calibri"/>
              <a:cs typeface="Calibri"/>
            </a:endParaRPr>
          </a:p>
          <a:p>
            <a:pPr marL="58419">
              <a:spcBef>
                <a:spcPts val="495"/>
              </a:spcBef>
            </a:pPr>
            <a:endParaRPr sz="1400" dirty="0">
              <a:latin typeface="Calibri"/>
              <a:cs typeface="Calibri"/>
            </a:endParaRPr>
          </a:p>
          <a:p>
            <a:pPr marL="344169" indent="-285750">
              <a:buFont typeface="Arial" panose="020B0604020202020204" pitchFamily="34" charset="0"/>
              <a:buChar char="•"/>
            </a:pPr>
            <a:r>
              <a:rPr sz="1600" spc="-20" dirty="0">
                <a:solidFill>
                  <a:srgbClr val="0D292E"/>
                </a:solidFill>
                <a:latin typeface="Calibri"/>
                <a:cs typeface="Calibri"/>
              </a:rPr>
              <a:t>Relevant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data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16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facts</a:t>
            </a:r>
            <a:r>
              <a:rPr lang="en-US" sz="16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58419" marR="57785">
              <a:lnSpc>
                <a:spcPts val="1650"/>
              </a:lnSpc>
              <a:spcBef>
                <a:spcPts val="575"/>
              </a:spcBef>
            </a:pPr>
            <a:r>
              <a:rPr lang="en-US" sz="1600" dirty="0">
                <a:solidFill>
                  <a:srgbClr val="0D292E"/>
                </a:solidFill>
                <a:latin typeface="Calibri"/>
                <a:cs typeface="Calibri"/>
              </a:rPr>
              <a:t>           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Our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initial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problem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insight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is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qualitative: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learners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may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receive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information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without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knowing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which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prerequisite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concept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they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have</a:t>
            </a:r>
            <a:r>
              <a:rPr sz="16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92E"/>
                </a:solidFill>
                <a:latin typeface="Calibri"/>
                <a:cs typeface="Calibri"/>
              </a:rPr>
              <a:t>not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understood.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This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should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be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validated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with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student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interviews.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900"/>
              </a:spcBef>
            </a:pPr>
            <a:endParaRPr sz="1600" dirty="0">
              <a:latin typeface="Calibri"/>
              <a:cs typeface="Calibri"/>
            </a:endParaRPr>
          </a:p>
          <a:p>
            <a:pPr marL="344169" indent="-285750">
              <a:buFont typeface="Arial" panose="020B0604020202020204" pitchFamily="34" charset="0"/>
              <a:buChar char="•"/>
            </a:pP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Current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D292E"/>
                </a:solidFill>
                <a:latin typeface="Calibri"/>
                <a:cs typeface="Calibri"/>
              </a:rPr>
              <a:t>workflow,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step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by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D292E"/>
                </a:solidFill>
                <a:latin typeface="Calibri"/>
                <a:cs typeface="Calibri"/>
              </a:rPr>
              <a:t>step</a:t>
            </a:r>
            <a:r>
              <a:rPr lang="en-US" sz="1600" spc="-2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231140" indent="-172720">
              <a:spcBef>
                <a:spcPts val="495"/>
              </a:spcBef>
              <a:buAutoNum type="arabicPeriod"/>
              <a:tabLst>
                <a:tab pos="231140" algn="l"/>
              </a:tabLst>
            </a:pP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Find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receive</a:t>
            </a:r>
            <a:r>
              <a:rPr sz="16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material.</a:t>
            </a:r>
            <a:endParaRPr sz="1600" dirty="0">
              <a:latin typeface="Calibri"/>
              <a:cs typeface="Calibri"/>
            </a:endParaRPr>
          </a:p>
          <a:p>
            <a:pPr marL="231140" indent="-172720">
              <a:spcBef>
                <a:spcPts val="495"/>
              </a:spcBef>
              <a:buAutoNum type="arabicPeriod"/>
              <a:tabLst>
                <a:tab pos="231140" algn="l"/>
              </a:tabLst>
            </a:pP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Read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notes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watch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lesson.</a:t>
            </a:r>
            <a:endParaRPr sz="1600" dirty="0">
              <a:latin typeface="Calibri"/>
              <a:cs typeface="Calibri"/>
            </a:endParaRPr>
          </a:p>
          <a:p>
            <a:pPr marL="231140" indent="-172720">
              <a:spcBef>
                <a:spcPts val="490"/>
              </a:spcBef>
              <a:buAutoNum type="arabicPeriod"/>
              <a:tabLst>
                <a:tab pos="231140" algn="l"/>
              </a:tabLst>
            </a:pP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Search</a:t>
            </a:r>
            <a:r>
              <a:rPr sz="16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separately</a:t>
            </a:r>
            <a:r>
              <a:rPr sz="16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for</a:t>
            </a:r>
            <a:r>
              <a:rPr sz="16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explanations.</a:t>
            </a:r>
            <a:endParaRPr sz="1600" dirty="0">
              <a:latin typeface="Calibri"/>
              <a:cs typeface="Calibri"/>
            </a:endParaRPr>
          </a:p>
          <a:p>
            <a:pPr marL="231140" indent="-172720">
              <a:spcBef>
                <a:spcPts val="495"/>
              </a:spcBef>
              <a:buAutoNum type="arabicPeriod"/>
              <a:tabLst>
                <a:tab pos="231140" algn="l"/>
              </a:tabLst>
            </a:pP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Practice</a:t>
            </a:r>
            <a:r>
              <a:rPr sz="16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using</a:t>
            </a:r>
            <a:r>
              <a:rPr sz="16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questions</a:t>
            </a:r>
            <a:r>
              <a:rPr sz="16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16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flashcards.</a:t>
            </a:r>
            <a:endParaRPr sz="1600" dirty="0">
              <a:latin typeface="Calibri"/>
              <a:cs typeface="Calibri"/>
            </a:endParaRPr>
          </a:p>
          <a:p>
            <a:pPr marL="231140" indent="-172720">
              <a:spcBef>
                <a:spcPts val="490"/>
              </a:spcBef>
              <a:buAutoNum type="arabicPeriod"/>
              <a:tabLst>
                <a:tab pos="231140" algn="l"/>
              </a:tabLst>
            </a:pPr>
            <a:r>
              <a:rPr sz="1600" spc="-20" dirty="0">
                <a:solidFill>
                  <a:srgbClr val="0D292E"/>
                </a:solidFill>
                <a:latin typeface="Calibri"/>
                <a:cs typeface="Calibri"/>
              </a:rPr>
              <a:t>Try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identify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weak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topics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92E"/>
                </a:solidFill>
                <a:latin typeface="Calibri"/>
                <a:cs typeface="Calibri"/>
              </a:rPr>
              <a:t>plan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revision</a:t>
            </a:r>
            <a:r>
              <a:rPr sz="16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92E"/>
                </a:solidFill>
                <a:latin typeface="Calibri"/>
                <a:cs typeface="Calibri"/>
              </a:rPr>
              <a:t>manually.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dirty="0"/>
              <a:t>Genesis</a:t>
            </a:r>
            <a:r>
              <a:rPr spc="-35" dirty="0"/>
              <a:t> </a:t>
            </a:r>
            <a:r>
              <a:rPr dirty="0"/>
              <a:t>Ideathon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145"/>
              </a:lnSpc>
            </a:pPr>
            <a:fld id="{81D60167-4931-47E6-BA6A-407CBD079E47}" type="slidenum">
              <a:rPr spc="-50" dirty="0"/>
              <a:pPr marL="63500">
                <a:lnSpc>
                  <a:spcPts val="1145"/>
                </a:lnSpc>
              </a:pPr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8317" y="314949"/>
            <a:ext cx="2613025" cy="831850"/>
            <a:chOff x="451966" y="314949"/>
            <a:chExt cx="2613025" cy="831850"/>
          </a:xfrm>
        </p:grpSpPr>
        <p:sp>
          <p:nvSpPr>
            <p:cNvPr id="4" name="object 4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2493714" y="822102"/>
                  </a:move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0" y="109610"/>
                  </a:move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493261" y="548068"/>
                  </a:moveTo>
                  <a:lnTo>
                    <a:pt x="137017" y="548068"/>
                  </a:lnTo>
                  <a:lnTo>
                    <a:pt x="0" y="274034"/>
                  </a:ln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close/>
                </a:path>
              </a:pathLst>
            </a:custGeom>
            <a:solidFill>
              <a:srgbClr val="F2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0" y="274034"/>
                  </a:move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lnTo>
                    <a:pt x="137017" y="548068"/>
                  </a:lnTo>
                  <a:lnTo>
                    <a:pt x="0" y="274034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325" y="548068"/>
              <a:ext cx="365378" cy="3653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3822" y="406280"/>
            <a:ext cx="1445895" cy="5778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1400" b="1" spc="-2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endParaRPr sz="1400" dirty="0">
              <a:latin typeface="Calibri"/>
              <a:cs typeface="Calibri"/>
            </a:endParaRPr>
          </a:p>
          <a:p>
            <a:pPr marL="12700">
              <a:spcBef>
                <a:spcPts val="495"/>
              </a:spcBef>
            </a:pPr>
            <a:r>
              <a:rPr lang="en-US" sz="1400" b="1" dirty="0">
                <a:solidFill>
                  <a:srgbClr val="0D292E"/>
                </a:solidFill>
                <a:latin typeface="Calibri"/>
                <a:cs typeface="Calibri"/>
              </a:rPr>
              <a:t>Yeezy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8408" y="527758"/>
            <a:ext cx="625936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6585">
              <a:spcBef>
                <a:spcPts val="95"/>
              </a:spcBef>
            </a:pPr>
            <a:r>
              <a:rPr dirty="0"/>
              <a:t>KEY</a:t>
            </a:r>
            <a:r>
              <a:rPr spc="-50" dirty="0"/>
              <a:t> </a:t>
            </a:r>
            <a:r>
              <a:rPr spc="-10" dirty="0"/>
              <a:t>CHALLENGES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54418" y="1461517"/>
            <a:ext cx="457200" cy="395605"/>
            <a:chOff x="548068" y="1461516"/>
            <a:chExt cx="457200" cy="395605"/>
          </a:xfrm>
        </p:grpSpPr>
        <p:sp>
          <p:nvSpPr>
            <p:cNvPr id="11" name="object 11"/>
            <p:cNvSpPr/>
            <p:nvPr/>
          </p:nvSpPr>
          <p:spPr>
            <a:xfrm>
              <a:off x="548068" y="1461516"/>
              <a:ext cx="457200" cy="395605"/>
            </a:xfrm>
            <a:custGeom>
              <a:avLst/>
              <a:gdLst/>
              <a:ahLst/>
              <a:cxnLst/>
              <a:rect l="l" t="t" r="r" b="b"/>
              <a:pathLst>
                <a:path w="457200" h="395605">
                  <a:moveTo>
                    <a:pt x="357843" y="395522"/>
                  </a:moveTo>
                  <a:lnTo>
                    <a:pt x="98880" y="395522"/>
                  </a:lnTo>
                  <a:lnTo>
                    <a:pt x="0" y="197761"/>
                  </a:lnTo>
                  <a:lnTo>
                    <a:pt x="98880" y="0"/>
                  </a:lnTo>
                  <a:lnTo>
                    <a:pt x="357843" y="0"/>
                  </a:lnTo>
                  <a:lnTo>
                    <a:pt x="456723" y="197761"/>
                  </a:lnTo>
                  <a:lnTo>
                    <a:pt x="357843" y="395522"/>
                  </a:lnTo>
                  <a:close/>
                </a:path>
              </a:pathLst>
            </a:custGeom>
            <a:solidFill>
              <a:srgbClr val="79C1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413" y="1521803"/>
              <a:ext cx="274034" cy="2740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5518" y="1343515"/>
            <a:ext cx="9507220" cy="49366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9410" marR="5080">
              <a:spcBef>
                <a:spcPts val="95"/>
              </a:spcBef>
            </a:pP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Learners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can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spend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significant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effort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studying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without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knowing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whether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they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understand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underlying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concepts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what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they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should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next.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1375"/>
              </a:spcBef>
              <a:buClr>
                <a:srgbClr val="016754"/>
              </a:buClr>
              <a:tabLst>
                <a:tab pos="334010" algn="l"/>
              </a:tabLst>
            </a:pPr>
            <a:r>
              <a:rPr lang="en-US" sz="1400" dirty="0">
                <a:solidFill>
                  <a:srgbClr val="0D292E"/>
                </a:solidFill>
                <a:latin typeface="Calibri"/>
                <a:cs typeface="Calibri"/>
              </a:rPr>
              <a:t>1.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Main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difficulties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bottlenecks</a:t>
            </a: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Complex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topics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are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difficult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connect.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Generic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explanations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may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not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match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learner's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level.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Wrong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answers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do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not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always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reveal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underlying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misconception.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Revision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progress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tracking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can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be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fragmented.</a:t>
            </a:r>
            <a:endParaRPr sz="1400" dirty="0">
              <a:latin typeface="Calibri"/>
              <a:cs typeface="Calibri"/>
            </a:endParaRPr>
          </a:p>
          <a:p>
            <a:pPr>
              <a:spcBef>
                <a:spcPts val="955"/>
              </a:spcBef>
              <a:buFont typeface="Calibri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58419">
              <a:spcBef>
                <a:spcPts val="5"/>
              </a:spcBef>
            </a:pPr>
            <a:r>
              <a:rPr lang="en-US" sz="1400" dirty="0">
                <a:solidFill>
                  <a:srgbClr val="0D292E"/>
                </a:solidFill>
                <a:latin typeface="Calibri"/>
                <a:cs typeface="Calibri"/>
              </a:rPr>
              <a:t>2.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Root</a:t>
            </a:r>
            <a:r>
              <a:rPr sz="14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causes</a:t>
            </a:r>
            <a:r>
              <a:rPr sz="14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behind</a:t>
            </a:r>
            <a:r>
              <a:rPr sz="14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them</a:t>
            </a:r>
            <a:r>
              <a:rPr lang="en-US" sz="1400" spc="-2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Static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materials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disconnected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tools.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Limited</a:t>
            </a:r>
            <a:r>
              <a:rPr sz="14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personalized</a:t>
            </a:r>
            <a:r>
              <a:rPr sz="14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feedback.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Learning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paths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that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do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not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reflect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individual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strengths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weaknesses.</a:t>
            </a:r>
            <a:endParaRPr sz="1400" dirty="0">
              <a:latin typeface="Calibri"/>
              <a:cs typeface="Calibri"/>
            </a:endParaRPr>
          </a:p>
          <a:p>
            <a:pPr>
              <a:spcBef>
                <a:spcPts val="955"/>
              </a:spcBef>
              <a:buFont typeface="Calibri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58419">
              <a:spcBef>
                <a:spcPts val="5"/>
              </a:spcBef>
            </a:pP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3.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Consequences</a:t>
            </a:r>
            <a:r>
              <a:rPr sz="1400" spc="-1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of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 leaving</a:t>
            </a:r>
            <a:r>
              <a:rPr sz="1400" spc="-1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them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 unsolved</a:t>
            </a: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Time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spent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revising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topics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already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understood.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Persistent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confusion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about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prerequisite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concepts.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Lower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confidence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inefficient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preparation.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dirty="0"/>
              <a:t>Genesis</a:t>
            </a:r>
            <a:r>
              <a:rPr spc="-35" dirty="0"/>
              <a:t> </a:t>
            </a:r>
            <a:r>
              <a:rPr dirty="0"/>
              <a:t>Ideathon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145"/>
              </a:lnSpc>
            </a:pPr>
            <a:fld id="{81D60167-4931-47E6-BA6A-407CBD079E47}" type="slidenum">
              <a:rPr spc="-50" dirty="0"/>
              <a:pPr marL="63500">
                <a:lnSpc>
                  <a:spcPts val="1145"/>
                </a:lnSpc>
              </a:pPr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8317" y="314949"/>
            <a:ext cx="2613025" cy="831850"/>
            <a:chOff x="451966" y="314949"/>
            <a:chExt cx="2613025" cy="831850"/>
          </a:xfrm>
        </p:grpSpPr>
        <p:sp>
          <p:nvSpPr>
            <p:cNvPr id="4" name="object 4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2493714" y="822102"/>
                  </a:move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0" y="109610"/>
                  </a:move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493261" y="548068"/>
                  </a:moveTo>
                  <a:lnTo>
                    <a:pt x="137017" y="548068"/>
                  </a:lnTo>
                  <a:lnTo>
                    <a:pt x="0" y="274034"/>
                  </a:ln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close/>
                </a:path>
              </a:pathLst>
            </a:custGeom>
            <a:solidFill>
              <a:srgbClr val="F2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0" y="274034"/>
                  </a:move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lnTo>
                    <a:pt x="137017" y="548068"/>
                  </a:lnTo>
                  <a:lnTo>
                    <a:pt x="0" y="274034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325" y="548068"/>
              <a:ext cx="365378" cy="3653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3822" y="406280"/>
            <a:ext cx="1445895" cy="57066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1400" b="1" spc="-2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endParaRPr sz="1400" dirty="0">
              <a:latin typeface="Calibri"/>
              <a:cs typeface="Calibri"/>
            </a:endParaRPr>
          </a:p>
          <a:p>
            <a:pPr marL="12700">
              <a:spcBef>
                <a:spcPts val="495"/>
              </a:spcBef>
            </a:pPr>
            <a:r>
              <a:rPr lang="en-US" sz="1400" b="1" dirty="0">
                <a:solidFill>
                  <a:srgbClr val="0D292E"/>
                </a:solidFill>
                <a:latin typeface="Calibri"/>
                <a:cs typeface="Calibri"/>
              </a:rPr>
              <a:t>Yeezy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8408" y="527758"/>
            <a:ext cx="625936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5940">
              <a:spcBef>
                <a:spcPts val="95"/>
              </a:spcBef>
            </a:pPr>
            <a:r>
              <a:rPr spc="-10" dirty="0"/>
              <a:t>EXISTING</a:t>
            </a:r>
            <a:r>
              <a:rPr spc="-65" dirty="0"/>
              <a:t> </a:t>
            </a:r>
            <a:r>
              <a:rPr spc="-10" dirty="0"/>
              <a:t>SOLUTIONS</a:t>
            </a:r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10" dirty="0"/>
              <a:t>APPROACHES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54418" y="1461517"/>
            <a:ext cx="457200" cy="395605"/>
            <a:chOff x="548068" y="1461516"/>
            <a:chExt cx="457200" cy="395605"/>
          </a:xfrm>
        </p:grpSpPr>
        <p:sp>
          <p:nvSpPr>
            <p:cNvPr id="11" name="object 11"/>
            <p:cNvSpPr/>
            <p:nvPr/>
          </p:nvSpPr>
          <p:spPr>
            <a:xfrm>
              <a:off x="548068" y="1461516"/>
              <a:ext cx="457200" cy="395605"/>
            </a:xfrm>
            <a:custGeom>
              <a:avLst/>
              <a:gdLst/>
              <a:ahLst/>
              <a:cxnLst/>
              <a:rect l="l" t="t" r="r" b="b"/>
              <a:pathLst>
                <a:path w="457200" h="395605">
                  <a:moveTo>
                    <a:pt x="357843" y="395522"/>
                  </a:moveTo>
                  <a:lnTo>
                    <a:pt x="98880" y="395522"/>
                  </a:lnTo>
                  <a:lnTo>
                    <a:pt x="0" y="197761"/>
                  </a:lnTo>
                  <a:lnTo>
                    <a:pt x="98880" y="0"/>
                  </a:lnTo>
                  <a:lnTo>
                    <a:pt x="357843" y="0"/>
                  </a:lnTo>
                  <a:lnTo>
                    <a:pt x="456723" y="197761"/>
                  </a:lnTo>
                  <a:lnTo>
                    <a:pt x="357843" y="395522"/>
                  </a:lnTo>
                  <a:close/>
                </a:path>
              </a:pathLst>
            </a:custGeom>
            <a:solidFill>
              <a:srgbClr val="79C1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413" y="1521803"/>
              <a:ext cx="274034" cy="2740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5519" y="1191273"/>
            <a:ext cx="9634767" cy="48269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9410" marR="5080">
              <a:spcBef>
                <a:spcPts val="95"/>
              </a:spcBef>
            </a:pP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Students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already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use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textbooks,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video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lessons,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AI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chatbots,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summarizers,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quiz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apps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D292E"/>
                </a:solidFill>
                <a:latin typeface="Calibri"/>
                <a:cs typeface="Calibri"/>
              </a:rPr>
              <a:t>and </a:t>
            </a:r>
            <a:r>
              <a:rPr sz="2000" spc="-20" dirty="0">
                <a:solidFill>
                  <a:srgbClr val="0D292E"/>
                </a:solidFill>
                <a:latin typeface="Calibri"/>
                <a:cs typeface="Calibri"/>
              </a:rPr>
              <a:t>mind-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mapping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tools.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Our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opportunity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is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connect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these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activities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into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one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adaptive process.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175"/>
              </a:spcBef>
              <a:buClr>
                <a:srgbClr val="016754"/>
              </a:buClr>
              <a:tabLst>
                <a:tab pos="334010" algn="l"/>
              </a:tabLst>
            </a:pP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1.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Existing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methods,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systems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alternatives</a:t>
            </a: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Textbooks,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PDFs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lecture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videos.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AI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chatbots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document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summarizers.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Quiz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flashcard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applications.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Mind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maps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note-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taking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tools.</a:t>
            </a:r>
            <a:endParaRPr sz="1400" dirty="0">
              <a:latin typeface="Calibri"/>
              <a:cs typeface="Calibri"/>
            </a:endParaRPr>
          </a:p>
          <a:p>
            <a:pPr marL="58419"/>
            <a:endParaRPr lang="en-US" sz="1400" dirty="0">
              <a:latin typeface="Calibri"/>
              <a:cs typeface="Calibri"/>
            </a:endParaRPr>
          </a:p>
          <a:p>
            <a:pPr marL="58419"/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2.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Limitations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of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each</a:t>
            </a:r>
            <a:r>
              <a:rPr lang="en-US" sz="1400" spc="-2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Reading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videos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may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be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mostly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passive.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Summaries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provide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information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but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may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not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diagnose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gaps.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Quizzes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can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mark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answers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without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reteaching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prerequisites.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Maps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may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show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relationships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without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adapting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learner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performance.</a:t>
            </a:r>
            <a:endParaRPr sz="1400" dirty="0">
              <a:latin typeface="Calibri"/>
              <a:cs typeface="Calibri"/>
            </a:endParaRPr>
          </a:p>
          <a:p>
            <a:pPr>
              <a:spcBef>
                <a:spcPts val="955"/>
              </a:spcBef>
            </a:pPr>
            <a:endParaRPr sz="1400" dirty="0">
              <a:latin typeface="Calibri"/>
              <a:cs typeface="Calibri"/>
            </a:endParaRPr>
          </a:p>
          <a:p>
            <a:pPr marL="58419"/>
            <a:r>
              <a:rPr lang="en-US" sz="1400" dirty="0">
                <a:solidFill>
                  <a:srgbClr val="0D292E"/>
                </a:solidFill>
                <a:latin typeface="Calibri"/>
                <a:cs typeface="Calibri"/>
              </a:rPr>
              <a:t>3.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gap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they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leave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open</a:t>
            </a:r>
            <a:r>
              <a:rPr lang="en-US" sz="1400" spc="-2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344169" indent="-285750"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connected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learning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loop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that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links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knowledge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map,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AI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tutoring,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assessment,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gap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detection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personalized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next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step.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dirty="0"/>
              <a:t>Genesis</a:t>
            </a:r>
            <a:r>
              <a:rPr spc="-35" dirty="0"/>
              <a:t> </a:t>
            </a:r>
            <a:r>
              <a:rPr dirty="0"/>
              <a:t>Ideathon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145"/>
              </a:lnSpc>
            </a:pPr>
            <a:fld id="{81D60167-4931-47E6-BA6A-407CBD079E47}" type="slidenum">
              <a:rPr spc="-50" dirty="0"/>
              <a:pPr marL="63500">
                <a:lnSpc>
                  <a:spcPts val="1145"/>
                </a:lnSpc>
              </a:pPr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8317" y="314949"/>
            <a:ext cx="2613025" cy="831850"/>
            <a:chOff x="451966" y="314949"/>
            <a:chExt cx="2613025" cy="831850"/>
          </a:xfrm>
        </p:grpSpPr>
        <p:sp>
          <p:nvSpPr>
            <p:cNvPr id="4" name="object 4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2493714" y="822102"/>
                  </a:move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0" y="109610"/>
                  </a:move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493261" y="548068"/>
                  </a:moveTo>
                  <a:lnTo>
                    <a:pt x="137017" y="548068"/>
                  </a:lnTo>
                  <a:lnTo>
                    <a:pt x="0" y="274034"/>
                  </a:ln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close/>
                </a:path>
              </a:pathLst>
            </a:custGeom>
            <a:solidFill>
              <a:srgbClr val="F2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0" y="274034"/>
                  </a:move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lnTo>
                    <a:pt x="137017" y="548068"/>
                  </a:lnTo>
                  <a:lnTo>
                    <a:pt x="0" y="274034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325" y="548068"/>
              <a:ext cx="365378" cy="3653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3822" y="406280"/>
            <a:ext cx="1445895" cy="5778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1400" b="1" spc="-2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endParaRPr sz="1400" dirty="0">
              <a:latin typeface="Calibri"/>
              <a:cs typeface="Calibri"/>
            </a:endParaRPr>
          </a:p>
          <a:p>
            <a:pPr marL="12700">
              <a:spcBef>
                <a:spcPts val="495"/>
              </a:spcBef>
            </a:pPr>
            <a:r>
              <a:rPr lang="en-US" sz="1400" b="1" dirty="0">
                <a:solidFill>
                  <a:srgbClr val="0D292E"/>
                </a:solidFill>
                <a:latin typeface="Calibri"/>
                <a:cs typeface="Calibri"/>
              </a:rPr>
              <a:t>Yeezy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8408" y="527758"/>
            <a:ext cx="625936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PROBLEM</a:t>
            </a:r>
            <a:r>
              <a:rPr spc="-65" dirty="0"/>
              <a:t> </a:t>
            </a:r>
            <a:r>
              <a:rPr spc="-10" dirty="0"/>
              <a:t>INSIGHTS</a:t>
            </a:r>
            <a:r>
              <a:rPr spc="-6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20" dirty="0"/>
              <a:t>OPPORTUNITY</a:t>
            </a:r>
            <a:r>
              <a:rPr spc="-65" dirty="0"/>
              <a:t> </a:t>
            </a:r>
            <a:r>
              <a:rPr spc="-10" dirty="0"/>
              <a:t>AREAS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54418" y="1461517"/>
            <a:ext cx="457200" cy="395605"/>
            <a:chOff x="548068" y="1461516"/>
            <a:chExt cx="457200" cy="395605"/>
          </a:xfrm>
        </p:grpSpPr>
        <p:sp>
          <p:nvSpPr>
            <p:cNvPr id="11" name="object 11"/>
            <p:cNvSpPr/>
            <p:nvPr/>
          </p:nvSpPr>
          <p:spPr>
            <a:xfrm>
              <a:off x="548068" y="1461516"/>
              <a:ext cx="457200" cy="395605"/>
            </a:xfrm>
            <a:custGeom>
              <a:avLst/>
              <a:gdLst/>
              <a:ahLst/>
              <a:cxnLst/>
              <a:rect l="l" t="t" r="r" b="b"/>
              <a:pathLst>
                <a:path w="457200" h="395605">
                  <a:moveTo>
                    <a:pt x="357843" y="395522"/>
                  </a:moveTo>
                  <a:lnTo>
                    <a:pt x="98880" y="395522"/>
                  </a:lnTo>
                  <a:lnTo>
                    <a:pt x="0" y="197761"/>
                  </a:lnTo>
                  <a:lnTo>
                    <a:pt x="98880" y="0"/>
                  </a:lnTo>
                  <a:lnTo>
                    <a:pt x="357843" y="0"/>
                  </a:lnTo>
                  <a:lnTo>
                    <a:pt x="456723" y="197761"/>
                  </a:lnTo>
                  <a:lnTo>
                    <a:pt x="357843" y="395522"/>
                  </a:lnTo>
                  <a:close/>
                </a:path>
              </a:pathLst>
            </a:custGeom>
            <a:solidFill>
              <a:srgbClr val="79C1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413" y="1521803"/>
              <a:ext cx="274034" cy="2740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5519" y="1343515"/>
            <a:ext cx="9354185" cy="48083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9410" marR="5080">
              <a:spcBef>
                <a:spcPts val="95"/>
              </a:spcBef>
            </a:pP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opportunity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is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make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learning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material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interactive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use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evidence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from</a:t>
            </a:r>
            <a:r>
              <a:rPr sz="2000" spc="-6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student responses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guide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what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learner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studies</a:t>
            </a:r>
            <a:r>
              <a:rPr sz="2000" spc="-5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next.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1375"/>
              </a:spcBef>
              <a:buClr>
                <a:srgbClr val="016754"/>
              </a:buClr>
              <a:tabLst>
                <a:tab pos="334010" algn="l"/>
              </a:tabLst>
            </a:pP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1.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Hardware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Requirements</a:t>
            </a: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Laptop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or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desktop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for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development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testing.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Student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device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with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browser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internet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connection.</a:t>
            </a:r>
            <a:endParaRPr sz="1400" dirty="0">
              <a:latin typeface="Calibri"/>
              <a:cs typeface="Calibri"/>
            </a:endParaRPr>
          </a:p>
          <a:p>
            <a:pPr marL="58419">
              <a:spcBef>
                <a:spcPts val="5"/>
              </a:spcBef>
            </a:pPr>
            <a:endParaRPr lang="en-US" sz="1400" dirty="0">
              <a:latin typeface="Calibri"/>
              <a:cs typeface="Calibri"/>
            </a:endParaRPr>
          </a:p>
          <a:p>
            <a:pPr marL="58419">
              <a:spcBef>
                <a:spcPts val="5"/>
              </a:spcBef>
            </a:pPr>
            <a:r>
              <a:rPr lang="en-IN" sz="1400" spc="-10" dirty="0">
                <a:solidFill>
                  <a:srgbClr val="0D292E"/>
                </a:solidFill>
                <a:latin typeface="Calibri"/>
                <a:cs typeface="Calibri"/>
              </a:rPr>
              <a:t>2.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Software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Requirements</a:t>
            </a: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Web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application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interface.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AI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language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model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for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explanations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question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generation.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Document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text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extraction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processing.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Knowledge-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map</a:t>
            </a:r>
            <a:r>
              <a:rPr sz="1400" spc="-1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visualization</a:t>
            </a:r>
            <a:r>
              <a:rPr sz="1400" spc="-1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progress</a:t>
            </a:r>
            <a:r>
              <a:rPr sz="1400" spc="-1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storage.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Quiz</a:t>
            </a: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0D292E"/>
                </a:solidFill>
                <a:latin typeface="Calibri"/>
                <a:cs typeface="Calibri"/>
              </a:rPr>
              <a:t>learner-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feedback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components.</a:t>
            </a:r>
            <a:endParaRPr sz="1400" dirty="0">
              <a:latin typeface="Calibri"/>
              <a:cs typeface="Calibri"/>
            </a:endParaRPr>
          </a:p>
          <a:p>
            <a:pPr>
              <a:spcBef>
                <a:spcPts val="955"/>
              </a:spcBef>
              <a:buFont typeface="Calibri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58419">
              <a:spcBef>
                <a:spcPts val="5"/>
              </a:spcBef>
            </a:pPr>
            <a:r>
              <a:rPr lang="en-US" sz="1400" dirty="0">
                <a:solidFill>
                  <a:srgbClr val="0D292E"/>
                </a:solidFill>
                <a:latin typeface="Calibri"/>
                <a:cs typeface="Calibri"/>
              </a:rPr>
              <a:t>3.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Other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resources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(Including</a:t>
            </a:r>
            <a:r>
              <a:rPr sz="14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Human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Resources)</a:t>
            </a:r>
            <a:r>
              <a:rPr lang="en-US" sz="1400" spc="-10" dirty="0">
                <a:solidFill>
                  <a:srgbClr val="0D292E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Student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interviews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usability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testing.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5"/>
              </a:spcBef>
              <a:buChar char="•"/>
              <a:tabLst>
                <a:tab pos="185420" algn="l"/>
              </a:tabLst>
            </a:pPr>
            <a:r>
              <a:rPr sz="1400" spc="-3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members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for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UI/UX,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frontend,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backend/AI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integration</a:t>
            </a:r>
            <a:r>
              <a:rPr sz="1400" spc="-2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testing.</a:t>
            </a:r>
            <a:endParaRPr sz="1400" dirty="0">
              <a:latin typeface="Calibri"/>
              <a:cs typeface="Calibri"/>
            </a:endParaRPr>
          </a:p>
          <a:p>
            <a:pPr marL="185420" indent="-127000">
              <a:spcBef>
                <a:spcPts val="490"/>
              </a:spcBef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Sample</a:t>
            </a:r>
            <a:r>
              <a:rPr sz="14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materials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educator</a:t>
            </a:r>
            <a:r>
              <a:rPr sz="14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292E"/>
                </a:solidFill>
                <a:latin typeface="Calibri"/>
                <a:cs typeface="Calibri"/>
              </a:rPr>
              <a:t>feedback.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dirty="0"/>
              <a:t>Genesis</a:t>
            </a:r>
            <a:r>
              <a:rPr spc="-35" dirty="0"/>
              <a:t> </a:t>
            </a:r>
            <a:r>
              <a:rPr dirty="0"/>
              <a:t>Ideathon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145"/>
              </a:lnSpc>
            </a:pPr>
            <a:fld id="{81D60167-4931-47E6-BA6A-407CBD079E47}" type="slidenum">
              <a:rPr spc="-50" dirty="0"/>
              <a:pPr marL="63500">
                <a:lnSpc>
                  <a:spcPts val="1145"/>
                </a:lnSpc>
              </a:pPr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8317" y="314949"/>
            <a:ext cx="2613025" cy="831850"/>
            <a:chOff x="451966" y="314949"/>
            <a:chExt cx="2613025" cy="831850"/>
          </a:xfrm>
        </p:grpSpPr>
        <p:sp>
          <p:nvSpPr>
            <p:cNvPr id="4" name="object 4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2493714" y="822102"/>
                  </a:move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56723" y="319706"/>
              <a:ext cx="2603500" cy="822325"/>
            </a:xfrm>
            <a:custGeom>
              <a:avLst/>
              <a:gdLst/>
              <a:ahLst/>
              <a:cxnLst/>
              <a:rect l="l" t="t" r="r" b="b"/>
              <a:pathLst>
                <a:path w="2603500" h="822325">
                  <a:moveTo>
                    <a:pt x="0" y="109610"/>
                  </a:moveTo>
                  <a:lnTo>
                    <a:pt x="8613" y="66945"/>
                  </a:lnTo>
                  <a:lnTo>
                    <a:pt x="32104" y="32104"/>
                  </a:lnTo>
                  <a:lnTo>
                    <a:pt x="66945" y="8613"/>
                  </a:lnTo>
                  <a:lnTo>
                    <a:pt x="109610" y="0"/>
                  </a:lnTo>
                  <a:lnTo>
                    <a:pt x="2493714" y="0"/>
                  </a:lnTo>
                  <a:lnTo>
                    <a:pt x="2535660" y="8343"/>
                  </a:lnTo>
                  <a:lnTo>
                    <a:pt x="2571220" y="32104"/>
                  </a:lnTo>
                  <a:lnTo>
                    <a:pt x="2594981" y="67664"/>
                  </a:lnTo>
                  <a:lnTo>
                    <a:pt x="2603325" y="109610"/>
                  </a:lnTo>
                  <a:lnTo>
                    <a:pt x="2603325" y="712491"/>
                  </a:lnTo>
                  <a:lnTo>
                    <a:pt x="2594711" y="755157"/>
                  </a:lnTo>
                  <a:lnTo>
                    <a:pt x="2571221" y="789998"/>
                  </a:lnTo>
                  <a:lnTo>
                    <a:pt x="2536379" y="813488"/>
                  </a:lnTo>
                  <a:lnTo>
                    <a:pt x="2493714" y="822102"/>
                  </a:lnTo>
                  <a:lnTo>
                    <a:pt x="109610" y="822102"/>
                  </a:lnTo>
                  <a:lnTo>
                    <a:pt x="66945" y="813488"/>
                  </a:lnTo>
                  <a:lnTo>
                    <a:pt x="32104" y="789998"/>
                  </a:lnTo>
                  <a:lnTo>
                    <a:pt x="8613" y="755157"/>
                  </a:lnTo>
                  <a:lnTo>
                    <a:pt x="0" y="712491"/>
                  </a:lnTo>
                  <a:lnTo>
                    <a:pt x="0" y="109610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493261" y="548068"/>
                  </a:moveTo>
                  <a:lnTo>
                    <a:pt x="137017" y="548068"/>
                  </a:lnTo>
                  <a:lnTo>
                    <a:pt x="0" y="274034"/>
                  </a:ln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close/>
                </a:path>
              </a:pathLst>
            </a:custGeom>
            <a:solidFill>
              <a:srgbClr val="F2F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875" y="456723"/>
              <a:ext cx="630555" cy="548640"/>
            </a:xfrm>
            <a:custGeom>
              <a:avLst/>
              <a:gdLst/>
              <a:ahLst/>
              <a:cxnLst/>
              <a:rect l="l" t="t" r="r" b="b"/>
              <a:pathLst>
                <a:path w="630555" h="548640">
                  <a:moveTo>
                    <a:pt x="0" y="274034"/>
                  </a:moveTo>
                  <a:lnTo>
                    <a:pt x="137017" y="0"/>
                  </a:lnTo>
                  <a:lnTo>
                    <a:pt x="493261" y="0"/>
                  </a:lnTo>
                  <a:lnTo>
                    <a:pt x="630278" y="274034"/>
                  </a:lnTo>
                  <a:lnTo>
                    <a:pt x="493261" y="548068"/>
                  </a:lnTo>
                  <a:lnTo>
                    <a:pt x="137017" y="548068"/>
                  </a:lnTo>
                  <a:lnTo>
                    <a:pt x="0" y="274034"/>
                  </a:lnTo>
                  <a:close/>
                </a:path>
              </a:pathLst>
            </a:custGeom>
            <a:ln w="9515">
              <a:solidFill>
                <a:srgbClr val="D3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325" y="548068"/>
              <a:ext cx="365378" cy="3653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3822" y="406280"/>
            <a:ext cx="1445895" cy="5778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1400" b="1" spc="-2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endParaRPr sz="1400" dirty="0">
              <a:latin typeface="Calibri"/>
              <a:cs typeface="Calibri"/>
            </a:endParaRPr>
          </a:p>
          <a:p>
            <a:pPr marL="12700">
              <a:spcBef>
                <a:spcPts val="495"/>
              </a:spcBef>
            </a:pPr>
            <a:r>
              <a:rPr lang="en-US" sz="1400" b="1" dirty="0">
                <a:solidFill>
                  <a:srgbClr val="0D292E"/>
                </a:solidFill>
                <a:latin typeface="Calibri"/>
                <a:cs typeface="Calibri"/>
              </a:rPr>
              <a:t>Yeezy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8408" y="527758"/>
            <a:ext cx="625936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spcBef>
                <a:spcPts val="95"/>
              </a:spcBef>
            </a:pPr>
            <a:r>
              <a:rPr dirty="0"/>
              <a:t>INITIAL</a:t>
            </a:r>
            <a:r>
              <a:rPr spc="-60" dirty="0"/>
              <a:t> </a:t>
            </a:r>
            <a:r>
              <a:rPr spc="-10" dirty="0"/>
              <a:t>DIRECTION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10" dirty="0"/>
              <a:t>EXPECTED</a:t>
            </a:r>
            <a:r>
              <a:rPr spc="-55" dirty="0"/>
              <a:t> </a:t>
            </a:r>
            <a:r>
              <a:rPr spc="-10" dirty="0"/>
              <a:t>OUTCOME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54418" y="1461517"/>
            <a:ext cx="457200" cy="395605"/>
            <a:chOff x="548068" y="1461516"/>
            <a:chExt cx="457200" cy="395605"/>
          </a:xfrm>
        </p:grpSpPr>
        <p:sp>
          <p:nvSpPr>
            <p:cNvPr id="11" name="object 11"/>
            <p:cNvSpPr/>
            <p:nvPr/>
          </p:nvSpPr>
          <p:spPr>
            <a:xfrm>
              <a:off x="548068" y="1461516"/>
              <a:ext cx="457200" cy="395605"/>
            </a:xfrm>
            <a:custGeom>
              <a:avLst/>
              <a:gdLst/>
              <a:ahLst/>
              <a:cxnLst/>
              <a:rect l="l" t="t" r="r" b="b"/>
              <a:pathLst>
                <a:path w="457200" h="395605">
                  <a:moveTo>
                    <a:pt x="357843" y="395522"/>
                  </a:moveTo>
                  <a:lnTo>
                    <a:pt x="98880" y="395522"/>
                  </a:lnTo>
                  <a:lnTo>
                    <a:pt x="0" y="197761"/>
                  </a:lnTo>
                  <a:lnTo>
                    <a:pt x="98880" y="0"/>
                  </a:lnTo>
                  <a:lnTo>
                    <a:pt x="357843" y="0"/>
                  </a:lnTo>
                  <a:lnTo>
                    <a:pt x="456723" y="197761"/>
                  </a:lnTo>
                  <a:lnTo>
                    <a:pt x="357843" y="395522"/>
                  </a:lnTo>
                  <a:close/>
                </a:path>
              </a:pathLst>
            </a:custGeom>
            <a:solidFill>
              <a:srgbClr val="79C1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413" y="1521803"/>
              <a:ext cx="274034" cy="27403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3850" y="1343515"/>
            <a:ext cx="10353675" cy="378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315" marR="1471295">
              <a:spcBef>
                <a:spcPts val="95"/>
              </a:spcBef>
            </a:pP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Create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prototype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that</a:t>
            </a:r>
            <a:r>
              <a:rPr sz="20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D292E"/>
                </a:solidFill>
                <a:latin typeface="Calibri"/>
                <a:cs typeface="Calibri"/>
              </a:rPr>
              <a:t>transforms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learner's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uploaded</a:t>
            </a:r>
            <a:r>
              <a:rPr sz="20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material</a:t>
            </a:r>
            <a:r>
              <a:rPr sz="20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into</a:t>
            </a:r>
            <a:r>
              <a:rPr sz="20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connected, interactive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experience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92E"/>
                </a:solidFill>
                <a:latin typeface="Calibri"/>
                <a:cs typeface="Calibri"/>
              </a:rPr>
              <a:t>with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personalized</a:t>
            </a:r>
            <a:r>
              <a:rPr sz="2000" spc="-7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92E"/>
                </a:solidFill>
                <a:latin typeface="Calibri"/>
                <a:cs typeface="Calibri"/>
              </a:rPr>
              <a:t>guidance.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1350"/>
              </a:spcBef>
              <a:buClr>
                <a:srgbClr val="016754"/>
              </a:buClr>
              <a:tabLst>
                <a:tab pos="335915" algn="l"/>
              </a:tabLst>
            </a:pPr>
            <a:r>
              <a:rPr lang="en-US" sz="1500" dirty="0">
                <a:solidFill>
                  <a:srgbClr val="0D292E"/>
                </a:solidFill>
                <a:latin typeface="Calibri"/>
                <a:cs typeface="Calibri"/>
              </a:rPr>
              <a:t>1.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What</a:t>
            </a:r>
            <a:r>
              <a:rPr sz="1500" spc="-5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your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team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intends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D292E"/>
                </a:solidFill>
                <a:latin typeface="Calibri"/>
                <a:cs typeface="Calibri"/>
              </a:rPr>
              <a:t>do</a:t>
            </a:r>
            <a:r>
              <a:rPr lang="en-US" sz="1500" spc="-25" dirty="0">
                <a:solidFill>
                  <a:srgbClr val="0D292E"/>
                </a:solidFill>
                <a:latin typeface="Calibri"/>
                <a:cs typeface="Calibri"/>
              </a:rPr>
              <a:t>?</a:t>
            </a:r>
            <a:endParaRPr sz="1500" dirty="0">
              <a:latin typeface="Calibri"/>
              <a:cs typeface="Calibri"/>
            </a:endParaRPr>
          </a:p>
          <a:p>
            <a:pPr marL="345440" marR="5080" indent="-285750"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Build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prototype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that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accepts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study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material,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organizes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key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concepts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into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knowledge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map,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D292E"/>
                </a:solidFill>
                <a:latin typeface="Calibri"/>
                <a:cs typeface="Calibri"/>
              </a:rPr>
              <a:t>offers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an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AI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tutor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generates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practice questions.</a:t>
            </a:r>
            <a:endParaRPr sz="1500" dirty="0">
              <a:latin typeface="Calibri"/>
              <a:cs typeface="Calibri"/>
            </a:endParaRPr>
          </a:p>
          <a:p>
            <a:pPr>
              <a:spcBef>
                <a:spcPts val="1010"/>
              </a:spcBef>
            </a:pPr>
            <a:endParaRPr sz="1500" dirty="0">
              <a:latin typeface="Calibri"/>
              <a:cs typeface="Calibri"/>
            </a:endParaRPr>
          </a:p>
          <a:p>
            <a:pPr marL="59690"/>
            <a:r>
              <a:rPr lang="en-US" sz="1500" dirty="0">
                <a:solidFill>
                  <a:srgbClr val="0D292E"/>
                </a:solidFill>
                <a:latin typeface="Calibri"/>
                <a:cs typeface="Calibri"/>
              </a:rPr>
              <a:t>2.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What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you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want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improve</a:t>
            </a:r>
            <a:r>
              <a:rPr lang="en-US" sz="1500" spc="-10" dirty="0">
                <a:solidFill>
                  <a:srgbClr val="0D292E"/>
                </a:solidFill>
                <a:latin typeface="Calibri"/>
                <a:cs typeface="Calibri"/>
              </a:rPr>
              <a:t>?</a:t>
            </a:r>
            <a:endParaRPr sz="1500" dirty="0">
              <a:latin typeface="Calibri"/>
              <a:cs typeface="Calibri"/>
            </a:endParaRPr>
          </a:p>
          <a:p>
            <a:pPr marL="345440" marR="699770" indent="-285750"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Conceptual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understanding,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visibility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relationships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topics,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detection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of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learning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gaps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the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relevance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revision recommendations.</a:t>
            </a:r>
            <a:endParaRPr sz="1500" dirty="0">
              <a:latin typeface="Calibri"/>
              <a:cs typeface="Calibri"/>
            </a:endParaRPr>
          </a:p>
          <a:p>
            <a:pPr>
              <a:spcBef>
                <a:spcPts val="1010"/>
              </a:spcBef>
            </a:pPr>
            <a:endParaRPr sz="1500" dirty="0">
              <a:latin typeface="Calibri"/>
              <a:cs typeface="Calibri"/>
            </a:endParaRPr>
          </a:p>
          <a:p>
            <a:pPr marL="59690"/>
            <a:r>
              <a:rPr lang="en-US" sz="1500" dirty="0">
                <a:solidFill>
                  <a:srgbClr val="0D292E"/>
                </a:solidFill>
                <a:latin typeface="Calibri"/>
                <a:cs typeface="Calibri"/>
              </a:rPr>
              <a:t>3.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What</a:t>
            </a:r>
            <a:r>
              <a:rPr sz="15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successful</a:t>
            </a:r>
            <a:r>
              <a:rPr sz="15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improvement</a:t>
            </a:r>
            <a:r>
              <a:rPr sz="15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should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you</a:t>
            </a:r>
            <a:r>
              <a:rPr sz="1500" spc="-4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achieve</a:t>
            </a:r>
            <a:r>
              <a:rPr lang="en-US" sz="1500" spc="-10" dirty="0">
                <a:solidFill>
                  <a:srgbClr val="0D292E"/>
                </a:solidFill>
                <a:latin typeface="Calibri"/>
                <a:cs typeface="Calibri"/>
              </a:rPr>
              <a:t>?</a:t>
            </a:r>
            <a:endParaRPr sz="1500" dirty="0">
              <a:latin typeface="Calibri"/>
              <a:cs typeface="Calibri"/>
            </a:endParaRPr>
          </a:p>
          <a:p>
            <a:pPr marL="345440" marR="244475" indent="-285750">
              <a:spcBef>
                <a:spcPts val="525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In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user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testing,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students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should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be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able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identify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weak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concepts,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receive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targeted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explanations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choose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useful</a:t>
            </a:r>
            <a:r>
              <a:rPr sz="1500" spc="-3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next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learning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step.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D292E"/>
                </a:solidFill>
                <a:latin typeface="Calibri"/>
                <a:cs typeface="Calibri"/>
              </a:rPr>
              <a:t>Validate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this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with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task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completion,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learner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feedback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and</a:t>
            </a:r>
            <a:r>
              <a:rPr sz="1500" spc="-35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D292E"/>
                </a:solidFill>
                <a:latin typeface="Calibri"/>
                <a:cs typeface="Calibri"/>
              </a:rPr>
              <a:t>before/after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292E"/>
                </a:solidFill>
                <a:latin typeface="Calibri"/>
                <a:cs typeface="Calibri"/>
              </a:rPr>
              <a:t>concept</a:t>
            </a:r>
            <a:r>
              <a:rPr sz="1500" spc="-40" dirty="0">
                <a:solidFill>
                  <a:srgbClr val="0D29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D292E"/>
                </a:solidFill>
                <a:latin typeface="Calibri"/>
                <a:cs typeface="Calibri"/>
              </a:rPr>
              <a:t>checks.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dirty="0"/>
              <a:t>Genesis</a:t>
            </a:r>
            <a:r>
              <a:rPr spc="-35" dirty="0"/>
              <a:t> </a:t>
            </a:r>
            <a:r>
              <a:rPr dirty="0"/>
              <a:t>Ideathon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145"/>
              </a:lnSpc>
            </a:pPr>
            <a:fld id="{81D60167-4931-47E6-BA6A-407CBD079E47}" type="slidenum">
              <a:rPr spc="-50" dirty="0"/>
              <a:pPr marL="63500">
                <a:lnSpc>
                  <a:spcPts val="1145"/>
                </a:lnSpc>
              </a:pPr>
              <a:t>8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1058</Words>
  <Application>Microsoft Office PowerPoint</Application>
  <PresentationFormat>Widescreen</PresentationFormat>
  <Paragraphs>131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Genesis Ideathon</vt:lpstr>
      <vt:lpstr>Office Theme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Dhanush M</cp:lastModifiedBy>
  <cp:revision>3</cp:revision>
  <dcterms:created xsi:type="dcterms:W3CDTF">2026-10-07T15:27:40Z</dcterms:created>
  <dcterms:modified xsi:type="dcterms:W3CDTF">2026-10-09T16:49:29Z</dcterms:modified>
</cp:coreProperties>
</file>